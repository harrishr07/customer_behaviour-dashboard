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 Black"/>
      <p:regular r:id="rId17"/>
    </p:embeddedFont>
    <p:embeddedFont>
      <p:font typeface="Montserrat Black"/>
      <p:regular r:id="rId18"/>
    </p:embeddedFont>
    <p:embeddedFont>
      <p:font typeface="Inconsolata"/>
      <p:regular r:id="rId19"/>
    </p:embeddedFont>
    <p:embeddedFont>
      <p:font typeface="Inconsolata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Analyzing 3,900 customer transactions to uncover insights into spending patterns, customer segments, and product preferences that could inform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60684"/>
            <a:ext cx="1722834" cy="426244"/>
          </a:xfrm>
          <a:prstGeom prst="roundRect">
            <a:avLst>
              <a:gd name="adj" fmla="val 2145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728668"/>
            <a:ext cx="14506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77653"/>
            <a:ext cx="79411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Foundation: Our Data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339941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3,900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900113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862155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Transactions analyzed across all categories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125278" y="333994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18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4231719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25278" y="486215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Features covering demographics and behavior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56884" y="333994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50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7563326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56884" y="486215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Geographic diversity in customer base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788491" y="3339941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25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10894933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88491" y="4862155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Unique items across four categories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584311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Dataset includes customer demographics, purchase details, shopping behavior, and subscription status. Only 37 missing values found in Review Rating column.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36546"/>
            <a:ext cx="1919645" cy="441484"/>
          </a:xfrm>
          <a:prstGeom prst="roundRect">
            <a:avLst>
              <a:gd name="adj" fmla="val 2071"/>
            </a:avLst>
          </a:prstGeom>
          <a:noFill/>
          <a:ln w="7620">
            <a:solidFill>
              <a:srgbClr val="15161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498" y="1066562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1012150"/>
            <a:ext cx="136005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PYTHON ANALYSIS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468755"/>
            <a:ext cx="87427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Preparation &amp; Cleaning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51769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2872740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8" name="Text 5"/>
          <p:cNvSpPr/>
          <p:nvPr/>
        </p:nvSpPr>
        <p:spPr>
          <a:xfrm>
            <a:off x="793790" y="3047048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3891796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Imported dataset using pandas, examined structure with df.info() and summary statistics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216962" y="251769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2872740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2" name="Text 9"/>
          <p:cNvSpPr/>
          <p:nvPr/>
        </p:nvSpPr>
        <p:spPr>
          <a:xfrm>
            <a:off x="5216962" y="3047048"/>
            <a:ext cx="34693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216962" y="3537466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Imputed Review Rating nulls using median rating per product category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9640133" y="251769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9640133" y="2872740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6" name="Text 13"/>
          <p:cNvSpPr/>
          <p:nvPr/>
        </p:nvSpPr>
        <p:spPr>
          <a:xfrm>
            <a:off x="9640133" y="3047048"/>
            <a:ext cx="3150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640133" y="3537466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Created age_group bins and purchase_frequency_days from transaction data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793790" y="537733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793790" y="5732383"/>
            <a:ext cx="6407944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0" name="Text 17"/>
          <p:cNvSpPr/>
          <p:nvPr/>
        </p:nvSpPr>
        <p:spPr>
          <a:xfrm>
            <a:off x="793790" y="5906691"/>
            <a:ext cx="3259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 Standardization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93790" y="639710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Renamed columns to snake_case, dropped redundant promo_code_used field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7428548" y="537733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3" name="Shape 20"/>
          <p:cNvSpPr/>
          <p:nvPr/>
        </p:nvSpPr>
        <p:spPr>
          <a:xfrm>
            <a:off x="7428548" y="5732383"/>
            <a:ext cx="6407944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4" name="Text 21"/>
          <p:cNvSpPr/>
          <p:nvPr/>
        </p:nvSpPr>
        <p:spPr>
          <a:xfrm>
            <a:off x="7428548" y="5906691"/>
            <a:ext cx="32542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428548" y="639710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Connected to MySQL and loaded cleaned DataFrame for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92806"/>
            <a:ext cx="1632347" cy="426244"/>
          </a:xfrm>
          <a:prstGeom prst="roundRect">
            <a:avLst>
              <a:gd name="adj" fmla="val 2145"/>
            </a:avLst>
          </a:prstGeom>
          <a:solidFill>
            <a:srgbClr val="E4E6E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615202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560790"/>
            <a:ext cx="108799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SQL INSIGHTS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009775"/>
            <a:ext cx="69171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Business Findings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3285530"/>
            <a:ext cx="30038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Revenue by Gender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86667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Male customers generated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highlight>
                  <a:srgbClr val="F2DED0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$157,890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vs. Female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highlight>
                  <a:srgbClr val="F2DED0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$75,191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in total revenue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3285530"/>
            <a:ext cx="4091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High-Value Discount Users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99521" y="386667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839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used discounts but still spent above average purchase amount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051703"/>
            <a:ext cx="6407944" cy="1685092"/>
          </a:xfrm>
          <a:prstGeom prst="roundRect">
            <a:avLst>
              <a:gd name="adj" fmla="val 54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28224" y="5286137"/>
            <a:ext cx="30275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Top Rated Products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776555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Gloves (3.86), Sandals (3.84), and Boots (3.82) lead in customer satisfaction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28548" y="5051703"/>
            <a:ext cx="6408063" cy="1685092"/>
          </a:xfrm>
          <a:prstGeom prst="roundRect">
            <a:avLst>
              <a:gd name="adj" fmla="val 54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662982" y="5286137"/>
            <a:ext cx="33151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Shipping Preferences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662982" y="5776555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Express shipping users spend $60.48 avg vs. $58.46 for Standard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1898" y="558998"/>
            <a:ext cx="5953482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Subscription Analysis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2797969" y="2916198"/>
            <a:ext cx="2494240" cy="50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50"/>
              </a:lnSpc>
              <a:buNone/>
            </a:pPr>
            <a:r>
              <a:rPr lang="en-US" sz="3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27%</a:t>
            </a:r>
            <a:endParaRPr lang="en-US" sz="3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4244" y="1648777"/>
            <a:ext cx="3041809" cy="30418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77728" y="4943951"/>
            <a:ext cx="253484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Subscribers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01898" y="5382339"/>
            <a:ext cx="6286500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1,053 customers with active subscriptions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337953" y="2916198"/>
            <a:ext cx="2494240" cy="50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50"/>
              </a:lnSpc>
              <a:buNone/>
            </a:pPr>
            <a:r>
              <a:rPr lang="en-US" sz="3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73%</a:t>
            </a:r>
            <a:endParaRPr lang="en-US" sz="3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228" y="1648777"/>
            <a:ext cx="3041809" cy="30418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17712" y="4943951"/>
            <a:ext cx="253484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Non-Subscribers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7441883" y="5382339"/>
            <a:ext cx="6286619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2,847 customers without subscriptions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901898" y="6137553"/>
            <a:ext cx="253484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Average Spend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901898" y="6657142"/>
            <a:ext cx="3901321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Subscribers: </a:t>
            </a:r>
            <a:pPr algn="l"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$59.49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901898" y="7163872"/>
            <a:ext cx="3901321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Non-subscribers: </a:t>
            </a:r>
            <a:pPr algn="l" indent="0" marL="0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$59.87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305425" y="6137553"/>
            <a:ext cx="253484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Revenue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5305425" y="6657142"/>
            <a:ext cx="3901321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Subscribers: 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151617"/>
                </a:solidFill>
                <a:highlight>
                  <a:srgbClr val="F2DED0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$62,645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305425" y="7163872"/>
            <a:ext cx="3901321" cy="32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Non-subscribers: </a:t>
            </a:r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151617"/>
                </a:solidFill>
                <a:highlight>
                  <a:srgbClr val="F2DED0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$170,436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9708952" y="6137553"/>
            <a:ext cx="253484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Repeat Buyers</a:t>
            </a:r>
            <a:endParaRPr lang="en-US" sz="1950" dirty="0"/>
          </a:p>
        </p:txBody>
      </p:sp>
      <p:sp>
        <p:nvSpPr>
          <p:cNvPr id="18" name="Text 14"/>
          <p:cNvSpPr/>
          <p:nvPr/>
        </p:nvSpPr>
        <p:spPr>
          <a:xfrm>
            <a:off x="9708952" y="6657142"/>
            <a:ext cx="4034552" cy="6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958 subscribers have 5+ purchases vs. 2,518 non-subscribers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5962"/>
            <a:ext cx="101653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Segmentation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188369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80439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415183"/>
            <a:ext cx="13602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2905601"/>
            <a:ext cx="13602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83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508415"/>
            <a:ext cx="8592860" cy="15240"/>
          </a:xfrm>
          <a:prstGeom prst="roundRect">
            <a:avLst>
              <a:gd name="adj" fmla="val 60000"/>
            </a:avLst>
          </a:prstGeom>
          <a:solidFill>
            <a:srgbClr val="15161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551992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00609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778806"/>
            <a:ext cx="15480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269224"/>
            <a:ext cx="15480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4872038"/>
            <a:ext cx="7516773" cy="15240"/>
          </a:xfrm>
          <a:prstGeom prst="roundRect">
            <a:avLst>
              <a:gd name="adj" fmla="val 60000"/>
            </a:avLst>
          </a:prstGeom>
          <a:solidFill>
            <a:srgbClr val="15161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4915614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36971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142428"/>
            <a:ext cx="17003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Loyal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632847"/>
            <a:ext cx="17003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47771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majority of our customer base falls into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Loyal segment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representing customers with consistent purchase history. This strong foundation provides opportunities for subscription conversion and upselling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474" y="587216"/>
            <a:ext cx="1893570" cy="416719"/>
          </a:xfrm>
          <a:prstGeom prst="roundRect">
            <a:avLst>
              <a:gd name="adj" fmla="val 2194"/>
            </a:avLst>
          </a:prstGeom>
          <a:noFill/>
          <a:ln w="7620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3206" y="658892"/>
            <a:ext cx="162210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7474" y="1089303"/>
            <a:ext cx="7522845" cy="667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Top Products by Category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47474" y="2076926"/>
            <a:ext cx="6460927" cy="1932027"/>
          </a:xfrm>
          <a:prstGeom prst="roundRect">
            <a:avLst>
              <a:gd name="adj" fmla="val 473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954" y="2107406"/>
            <a:ext cx="6399967" cy="640675"/>
          </a:xfrm>
          <a:prstGeom prst="rect">
            <a:avLst/>
          </a:prstGeom>
          <a:solidFill>
            <a:srgbClr val="F8ECE4"/>
          </a:solidFill>
          <a:ln/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17739" y="2223730"/>
            <a:ext cx="320278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91433" y="2961561"/>
            <a:ext cx="2669500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Accessories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91433" y="3423285"/>
            <a:ext cx="5973008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Jewelry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(171 orders), Sunglasses (161), Belt (161)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421880" y="2076926"/>
            <a:ext cx="6461046" cy="1932027"/>
          </a:xfrm>
          <a:prstGeom prst="roundRect">
            <a:avLst>
              <a:gd name="adj" fmla="val 473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52360" y="2107406"/>
            <a:ext cx="6400086" cy="640675"/>
          </a:xfrm>
          <a:prstGeom prst="rect">
            <a:avLst/>
          </a:prstGeom>
          <a:solidFill>
            <a:srgbClr val="F8ECE4"/>
          </a:solidFill>
          <a:ln/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492264" y="2223730"/>
            <a:ext cx="320278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665839" y="2961561"/>
            <a:ext cx="2669500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Clothing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65839" y="3423285"/>
            <a:ext cx="5973128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Blouse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(171 orders), Pants (171), Shirt (169)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7474" y="4222433"/>
            <a:ext cx="6460927" cy="1932027"/>
          </a:xfrm>
          <a:prstGeom prst="roundRect">
            <a:avLst>
              <a:gd name="adj" fmla="val 473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954" y="4252913"/>
            <a:ext cx="6399967" cy="640675"/>
          </a:xfrm>
          <a:prstGeom prst="rect">
            <a:avLst/>
          </a:prstGeom>
          <a:solidFill>
            <a:srgbClr val="F8ECE4"/>
          </a:solidFill>
          <a:ln/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17739" y="4369237"/>
            <a:ext cx="320278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91433" y="5107067"/>
            <a:ext cx="2669500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Footwear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91433" y="5568791"/>
            <a:ext cx="5973008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Sandals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(160 orders), Shoes (150), Sneakers (145)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421880" y="4222433"/>
            <a:ext cx="6461046" cy="1932027"/>
          </a:xfrm>
          <a:prstGeom prst="roundRect">
            <a:avLst>
              <a:gd name="adj" fmla="val 473"/>
            </a:avLst>
          </a:prstGeom>
          <a:solidFill>
            <a:srgbClr val="F8ECE4"/>
          </a:solidFill>
          <a:ln w="3048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52360" y="4252913"/>
            <a:ext cx="6400086" cy="640675"/>
          </a:xfrm>
          <a:prstGeom prst="rect">
            <a:avLst/>
          </a:prstGeom>
          <a:solidFill>
            <a:srgbClr val="F8ECE4"/>
          </a:solidFill>
          <a:ln/>
          <a:effectLst>
            <a:outerShdw sx="100000" sy="100000" kx="0" ky="0" algn="bl" rotWithShape="0" blurRad="0" dist="19050" dir="2700000">
              <a:srgbClr val="151617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492264" y="4369237"/>
            <a:ext cx="320278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7665839" y="5107067"/>
            <a:ext cx="2669500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Outerwear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665839" y="5568791"/>
            <a:ext cx="5973128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Jacket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(163 orders), Coat (161)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47474" y="6394609"/>
            <a:ext cx="13135451" cy="1249085"/>
          </a:xfrm>
          <a:prstGeom prst="roundRect">
            <a:avLst>
              <a:gd name="adj" fmla="val 732"/>
            </a:avLst>
          </a:prstGeom>
          <a:solidFill>
            <a:srgbClr val="D7D9DA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953" y="6710839"/>
            <a:ext cx="266938" cy="21347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41371" y="6661428"/>
            <a:ext cx="12228076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Discount Dependency: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Hat (50%), Sneakers (49.66%), and Coat (49.07%) show highest percentage of discounted purchases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6578" y="449342"/>
            <a:ext cx="4716661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Revenue Distribution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578" y="1286947"/>
            <a:ext cx="10337244" cy="5788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6578" y="7259598"/>
            <a:ext cx="10337244" cy="5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Young Adults lead revenue generation at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151617"/>
                </a:solidFill>
                <a:highlight>
                  <a:srgbClr val="F2DED0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$62,143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followed closely by Middle-aged customers. Revenue distribution remains relatively balanced across age groups, suggesting broad market appeal.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26644"/>
            <a:ext cx="2176343" cy="426244"/>
          </a:xfrm>
          <a:prstGeom prst="roundRect">
            <a:avLst>
              <a:gd name="adj" fmla="val 2145"/>
            </a:avLst>
          </a:prstGeom>
          <a:solidFill>
            <a:srgbClr val="E4E6E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849041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794629"/>
            <a:ext cx="163199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POWER BI DASHBOARD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243614"/>
            <a:ext cx="80704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 Analytics Overview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3292554"/>
            <a:ext cx="4196358" cy="2229445"/>
          </a:xfrm>
          <a:prstGeom prst="roundRect">
            <a:avLst>
              <a:gd name="adj" fmla="val 41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28224" y="352698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714036"/>
            <a:ext cx="306110" cy="3061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8224" y="44342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3.9K Customers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28224" y="492466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customer base analyzed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5216962" y="3292554"/>
            <a:ext cx="4196358" cy="2229445"/>
          </a:xfrm>
          <a:prstGeom prst="roundRect">
            <a:avLst>
              <a:gd name="adj" fmla="val 41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51396" y="352698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714036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51396" y="4434245"/>
            <a:ext cx="31948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$59.76 Avg Purchase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5451396" y="492466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Mean transaction value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9640133" y="3292554"/>
            <a:ext cx="4196358" cy="2229445"/>
          </a:xfrm>
          <a:prstGeom prst="roundRect">
            <a:avLst>
              <a:gd name="adj" fmla="val 41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874568" y="352698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714036"/>
            <a:ext cx="306110" cy="3061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74568" y="44342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3.75 Avg Rating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9874568" y="492466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Customer satisfaction score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793790" y="577715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Interactive dashboard enables real-time filtering by subscription status, gender, category, and shipping type for deeper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3550" y="485299"/>
            <a:ext cx="1975366" cy="331589"/>
          </a:xfrm>
          <a:prstGeom prst="roundRect">
            <a:avLst>
              <a:gd name="adj" fmla="val 2758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1839397" y="538163"/>
            <a:ext cx="1763673" cy="22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33550" y="887373"/>
            <a:ext cx="11163181" cy="1102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Exploratory observations and possible next steps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550" y="2255044"/>
            <a:ext cx="882372" cy="10589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92373" y="2431494"/>
            <a:ext cx="2403991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Boost Subscriptions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792373" y="2813090"/>
            <a:ext cx="1010435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Promote exclusive benefits to convert the 73% non-subscriber base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3313986"/>
            <a:ext cx="882372" cy="10589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92373" y="3490436"/>
            <a:ext cx="2206109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Loyalty Programs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2792373" y="3872032"/>
            <a:ext cx="1010435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Reward repeat buyers to expand the 3,116-customer Loyal segment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4372928"/>
            <a:ext cx="882372" cy="10589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92373" y="4549378"/>
            <a:ext cx="2348032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Optimize Discounts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2792373" y="4930973"/>
            <a:ext cx="1010435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Balance promotional sales with margin control on high-discount products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733550" y="5806797"/>
            <a:ext cx="2398514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 Positioning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733550" y="6258997"/>
            <a:ext cx="5366266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Highlight top-rated items (Gloves, Sandals, Boots) and best-sellers in marketing campaigns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537966" y="5806797"/>
            <a:ext cx="2375535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Targeted Marketing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7537966" y="6258997"/>
            <a:ext cx="5366266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Focus on Young Adults and express-shipping users for maximum revenue impact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733550" y="7180898"/>
            <a:ext cx="11163181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project was completed as a learning exercise to understand an end-to-end data analytics workflow. Insights are exploratory and based on the given dataset.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2026-01-26T14:02:47Z</dcterms:created>
  <dcterms:modified xsi:type="dcterms:W3CDTF">2026-01-26T14:02:47Z</dcterms:modified>
</cp:coreProperties>
</file>